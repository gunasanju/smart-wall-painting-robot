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  <p:sldId id="266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DM Sans" pitchFamily="2" charset="0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Light" panose="020B0306030504020204" pitchFamily="3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20B0604020202020204" charset="0"/>
      <p:regular r:id="rId21"/>
    </p:embeddedFont>
    <p:embeddedFont>
      <p:font typeface="Poppins Semi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8A80"/>
    <a:srgbClr val="9E876E"/>
    <a:srgbClr val="8B7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793400" y="-712357"/>
            <a:ext cx="22453902" cy="11711713"/>
            <a:chOff x="0" y="0"/>
            <a:chExt cx="5913785" cy="30845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571132" y="6449964"/>
            <a:ext cx="6983181" cy="669188"/>
            <a:chOff x="0" y="0"/>
            <a:chExt cx="1839192" cy="1762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9192" cy="176247"/>
            </a:xfrm>
            <a:custGeom>
              <a:avLst/>
              <a:gdLst/>
              <a:ahLst/>
              <a:cxnLst/>
              <a:rect l="l" t="t" r="r" b="b"/>
              <a:pathLst>
                <a:path w="1839192" h="176247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10563" y="3491698"/>
            <a:ext cx="13066873" cy="3032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SMART WALL PAINTING ROBOT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35017" y="6562438"/>
            <a:ext cx="6617965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GROUP G1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788" y="-177024"/>
            <a:ext cx="7097803" cy="11057957"/>
          </a:xfrm>
          <a:custGeom>
            <a:avLst/>
            <a:gdLst/>
            <a:ahLst/>
            <a:cxnLst/>
            <a:rect l="l" t="t" r="r" b="b"/>
            <a:pathLst>
              <a:path w="7097803" h="11057957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r="-226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14350" y="-177024"/>
            <a:ext cx="7454365" cy="10601584"/>
            <a:chOff x="0" y="0"/>
            <a:chExt cx="1963290" cy="27921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57788" y="0"/>
            <a:ext cx="7249422" cy="10880933"/>
          </a:xfrm>
          <a:custGeom>
            <a:avLst/>
            <a:gdLst/>
            <a:ahLst/>
            <a:cxnLst/>
            <a:rect l="l" t="t" r="r" b="b"/>
            <a:pathLst>
              <a:path w="7249422" h="10880933">
                <a:moveTo>
                  <a:pt x="0" y="0"/>
                </a:moveTo>
                <a:lnTo>
                  <a:pt x="7249422" y="0"/>
                </a:lnTo>
                <a:lnTo>
                  <a:pt x="7249422" y="10880933"/>
                </a:lnTo>
                <a:lnTo>
                  <a:pt x="0" y="10880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001000" y="723900"/>
            <a:ext cx="8764972" cy="2128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8128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8196" y="3162300"/>
            <a:ext cx="10001596" cy="6277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9689" lvl="1" indent="-279844" algn="just">
              <a:lnSpc>
                <a:spcPct val="150000"/>
              </a:lnSpc>
              <a:buFont typeface="Arial"/>
              <a:buChar char="•"/>
            </a:pPr>
            <a:r>
              <a:rPr lang="en-US" sz="2800" spc="1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W</a:t>
            </a:r>
            <a:r>
              <a:rPr lang="en-US" sz="2800" u="none" spc="1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e are developing an automated wall painting robot that can move smoothly on vertical surfaces using omni wheels and paint walls efficiently.</a:t>
            </a:r>
          </a:p>
          <a:p>
            <a:pPr marL="559689" lvl="1" indent="-279844" algn="just">
              <a:lnSpc>
                <a:spcPct val="150000"/>
              </a:lnSpc>
              <a:buFont typeface="Arial"/>
              <a:buChar char="•"/>
            </a:pPr>
            <a:r>
              <a:rPr lang="en-US" sz="2800" u="none" spc="1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Controlled by an Arduino Mega, the robot is designed to reduce manual labor, save time, and improve painting quality.</a:t>
            </a:r>
          </a:p>
          <a:p>
            <a:pPr marL="559689" lvl="1" indent="-279844" algn="just">
              <a:lnSpc>
                <a:spcPct val="150000"/>
              </a:lnSpc>
              <a:buFont typeface="Arial"/>
              <a:buChar char="•"/>
            </a:pPr>
            <a:r>
              <a:rPr lang="en-US" sz="2800" u="none" spc="1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ans"/>
              </a:rPr>
              <a:t>Our goal is to build a working prototype that can autonomously cover a wall surface with even paint distribution.</a:t>
            </a:r>
          </a:p>
          <a:p>
            <a:pPr marL="0" lvl="0" indent="0" algn="l">
              <a:lnSpc>
                <a:spcPts val="3813"/>
              </a:lnSpc>
            </a:pPr>
            <a:endParaRPr lang="en-US" sz="2592" u="none" spc="155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7204" y="312887"/>
            <a:ext cx="11023795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Concept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2103313"/>
            <a:ext cx="17177698" cy="818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540" lvl="1" indent="-313770" algn="just">
              <a:lnSpc>
                <a:spcPts val="4679"/>
              </a:lnSpc>
              <a:buFont typeface="Arial"/>
              <a:buChar char="•"/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robot base moves along the wall surface using 4 omni wheels powered by DC motors.</a:t>
            </a:r>
          </a:p>
          <a:p>
            <a:pPr marL="627540" lvl="1" indent="-313770" algn="just">
              <a:lnSpc>
                <a:spcPts val="4679"/>
              </a:lnSpc>
              <a:buFont typeface="Arial"/>
              <a:buChar char="•"/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paint spray nozzle is mounted on a sliding mechanism, moved up and down by a NEMA 17 stepper motor and a threaded rod (lead screw) for full vertical wall coverage.</a:t>
            </a:r>
          </a:p>
          <a:p>
            <a:pPr marL="627540" lvl="1" indent="-313770" algn="just">
              <a:lnSpc>
                <a:spcPts val="4679"/>
              </a:lnSpc>
              <a:buFont typeface="Arial"/>
              <a:buChar char="•"/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Ultrasonic sensors maintain a constant distance between the robot and the wall, ensuring even and consistent paint spraying.</a:t>
            </a:r>
          </a:p>
          <a:p>
            <a:pPr marL="627540" lvl="1" indent="-313770" algn="just">
              <a:lnSpc>
                <a:spcPts val="4679"/>
              </a:lnSpc>
              <a:buFont typeface="Arial"/>
              <a:buChar char="•"/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load cell is used to measure the weight of the paint bucket and monitor the remaining paint level.</a:t>
            </a:r>
          </a:p>
          <a:p>
            <a:pPr marL="627540" lvl="1" indent="-313770" algn="just">
              <a:lnSpc>
                <a:spcPts val="4679"/>
              </a:lnSpc>
              <a:buFont typeface="Arial"/>
              <a:buChar char="•"/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Two color sensors are placed near the nozzle area to check if the wall has been painted properly:</a:t>
            </a:r>
          </a:p>
          <a:p>
            <a:pPr algn="just">
              <a:lnSpc>
                <a:spcPts val="4679"/>
              </a:lnSpc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                  They detect whether the area is already painted or still needs paint.</a:t>
            </a:r>
          </a:p>
          <a:p>
            <a:pPr algn="just">
              <a:lnSpc>
                <a:spcPts val="4679"/>
              </a:lnSpc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                  This helps prevent overlapping paint and ensures full coverage.</a:t>
            </a:r>
          </a:p>
          <a:p>
            <a:pPr marL="627540" lvl="1" indent="-313770" algn="just">
              <a:lnSpc>
                <a:spcPts val="4679"/>
              </a:lnSpc>
              <a:buFont typeface="Arial"/>
              <a:buChar char="•"/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system is controlled by an Arduino Mega, managing motor control, sensor data processing, and spray activation.</a:t>
            </a:r>
          </a:p>
          <a:p>
            <a:pPr marL="627540" lvl="1" indent="-313770" algn="just">
              <a:lnSpc>
                <a:spcPts val="4679"/>
              </a:lnSpc>
              <a:buFont typeface="Arial"/>
              <a:buChar char="•"/>
            </a:pPr>
            <a:r>
              <a:rPr lang="en-US" sz="2906" dirty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robot can operate in semi-automatic or automatic mode, following a planned path or based on user control.</a:t>
            </a:r>
          </a:p>
          <a:p>
            <a:pPr algn="l">
              <a:lnSpc>
                <a:spcPts val="4069"/>
              </a:lnSpc>
              <a:spcBef>
                <a:spcPct val="0"/>
              </a:spcBef>
            </a:pPr>
            <a:endParaRPr lang="en-US" sz="2906" dirty="0">
              <a:solidFill>
                <a:srgbClr val="00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10167" y="3733068"/>
            <a:ext cx="5576155" cy="5525232"/>
          </a:xfrm>
          <a:custGeom>
            <a:avLst/>
            <a:gdLst/>
            <a:ahLst/>
            <a:cxnLst/>
            <a:rect l="l" t="t" r="r" b="b"/>
            <a:pathLst>
              <a:path w="5576155" h="5525232">
                <a:moveTo>
                  <a:pt x="0" y="0"/>
                </a:moveTo>
                <a:lnTo>
                  <a:pt x="5576155" y="0"/>
                </a:lnTo>
                <a:lnTo>
                  <a:pt x="5576155" y="5525232"/>
                </a:lnTo>
                <a:lnTo>
                  <a:pt x="0" y="5525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062" t="-4946" r="-22552" b="-118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371275" y="814210"/>
            <a:ext cx="5340840" cy="8444090"/>
          </a:xfrm>
          <a:custGeom>
            <a:avLst/>
            <a:gdLst/>
            <a:ahLst/>
            <a:cxnLst/>
            <a:rect l="l" t="t" r="r" b="b"/>
            <a:pathLst>
              <a:path w="5340840" h="8444090">
                <a:moveTo>
                  <a:pt x="0" y="0"/>
                </a:moveTo>
                <a:lnTo>
                  <a:pt x="5340841" y="0"/>
                </a:lnTo>
                <a:lnTo>
                  <a:pt x="5340841" y="8444090"/>
                </a:lnTo>
                <a:lnTo>
                  <a:pt x="0" y="8444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25" r="-1293" b="-117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9114" y="159703"/>
            <a:ext cx="989826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Progress</a:t>
            </a: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9114" y="2238029"/>
            <a:ext cx="6004454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Fabrication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15328" y="9416317"/>
            <a:ext cx="372808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AutoCad Drawing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72577" y="9416317"/>
            <a:ext cx="5139538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Fabricated Wood Frame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3608" y="537527"/>
            <a:ext cx="914400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Nozzle Moving Mechanism</a:t>
            </a:r>
            <a:r>
              <a:rPr lang="en-US" sz="5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08109"/>
            <a:ext cx="16823065" cy="194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1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using a NEMA 17 stepper motor controlled by an A4988 motor driver to move the paint spray nozzle vertically along the wall using threaded rod (lead screw) mechanism 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21318"/>
            <a:ext cx="16458614" cy="551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81"/>
              </a:lnSpc>
            </a:pPr>
            <a:r>
              <a:rPr lang="en-US" sz="3447" spc="7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successfully:</a:t>
            </a:r>
          </a:p>
          <a:p>
            <a:pPr marL="744372" lvl="1" indent="-372186" algn="just">
              <a:lnSpc>
                <a:spcPts val="5481"/>
              </a:lnSpc>
              <a:buFont typeface="Arial"/>
              <a:buChar char="•"/>
            </a:pPr>
            <a:r>
              <a:rPr lang="en-US" sz="3447" spc="7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Tested the current settings for the NEMA 17 motor using the A4988 driver to ensure smooth and stable motion.</a:t>
            </a:r>
          </a:p>
          <a:p>
            <a:pPr marL="744372" lvl="1" indent="-372186" algn="just">
              <a:lnSpc>
                <a:spcPts val="5481"/>
              </a:lnSpc>
              <a:buFont typeface="Arial"/>
              <a:buChar char="•"/>
            </a:pPr>
            <a:r>
              <a:rPr lang="en-US" sz="3447" spc="7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Adjusted the motor current to prevent overheating and provide enough torque for vertical lifting.</a:t>
            </a:r>
          </a:p>
          <a:p>
            <a:pPr marL="744372" lvl="1" indent="-372186" algn="just">
              <a:lnSpc>
                <a:spcPts val="5481"/>
              </a:lnSpc>
              <a:buFont typeface="Arial"/>
              <a:buChar char="•"/>
            </a:pPr>
            <a:r>
              <a:rPr lang="en-US" sz="3447" spc="7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Verified the linear motion of the threaded bar to ensure that the nozzle can move up and down smoothly without vibrations.</a:t>
            </a:r>
          </a:p>
          <a:p>
            <a:pPr algn="just">
              <a:lnSpc>
                <a:spcPts val="5481"/>
              </a:lnSpc>
            </a:pPr>
            <a:endParaRPr lang="en-US" sz="3447" spc="72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ma 17 2">
            <a:hlinkClick r:id="" action="ppaction://media"/>
            <a:extLst>
              <a:ext uri="{FF2B5EF4-FFF2-40B4-BE49-F238E27FC236}">
                <a16:creationId xmlns:a16="http://schemas.microsoft.com/office/drawing/2014/main" id="{A9EC91B3-04DB-552C-D45C-0F49EA5DC6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3400" y="269096"/>
            <a:ext cx="17221200" cy="9748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2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33450"/>
            <a:ext cx="1452302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Mobility and Wall Distance Maintenance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0484" y="2054186"/>
            <a:ext cx="17136786" cy="424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6134" lvl="1" indent="-358067" algn="just">
              <a:lnSpc>
                <a:spcPts val="4842"/>
              </a:lnSpc>
              <a:buFont typeface="Arial"/>
              <a:buChar char="•"/>
            </a:pPr>
            <a:r>
              <a:rPr lang="en-US" sz="33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robot uses four </a:t>
            </a:r>
            <a:r>
              <a:rPr lang="en-US" sz="33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mechanum</a:t>
            </a:r>
            <a:r>
              <a:rPr lang="en-US" sz="33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wheels to enable smooth omnidirectional movement, allowing precise alignment and easy navigation along the wall surface.</a:t>
            </a:r>
          </a:p>
          <a:p>
            <a:pPr marL="716134" lvl="1" indent="-358067" algn="just">
              <a:lnSpc>
                <a:spcPts val="4842"/>
              </a:lnSpc>
              <a:buFont typeface="Arial"/>
              <a:buChar char="•"/>
            </a:pPr>
            <a:r>
              <a:rPr lang="en-US" sz="33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Ultrasonic sensors are mounted on the robot to continuously monitor and maintain an optimal distance from the wall, ensuring accurate and consistent painting.</a:t>
            </a:r>
          </a:p>
          <a:p>
            <a:pPr algn="just">
              <a:lnSpc>
                <a:spcPts val="4842"/>
              </a:lnSpc>
            </a:pPr>
            <a:endParaRPr lang="en-US" sz="331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27FBD7-9A6C-F1F1-D3A8-BDFB1E05A2A3}"/>
              </a:ext>
            </a:extLst>
          </p:cNvPr>
          <p:cNvSpPr txBox="1"/>
          <p:nvPr/>
        </p:nvSpPr>
        <p:spPr>
          <a:xfrm>
            <a:off x="990600" y="723900"/>
            <a:ext cx="1463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nva Sans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We also made motor bracket and Motor shafts</a:t>
            </a:r>
          </a:p>
        </p:txBody>
      </p:sp>
      <p:pic>
        <p:nvPicPr>
          <p:cNvPr id="5" name="Picture 4" descr="A black metal bracket with red lines and measurements&#10;&#10;AI-generated content may be incorrect.">
            <a:extLst>
              <a:ext uri="{FF2B5EF4-FFF2-40B4-BE49-F238E27FC236}">
                <a16:creationId xmlns:a16="http://schemas.microsoft.com/office/drawing/2014/main" id="{F6B4CBF3-15FE-9478-0074-E525D5B20B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19300"/>
            <a:ext cx="6477000" cy="6477000"/>
          </a:xfrm>
          <a:prstGeom prst="rect">
            <a:avLst/>
          </a:prstGeom>
        </p:spPr>
      </p:pic>
      <p:pic>
        <p:nvPicPr>
          <p:cNvPr id="7" name="Picture 6" descr="A group of metal brackets&#10;&#10;AI-generated content may be incorrect.">
            <a:extLst>
              <a:ext uri="{FF2B5EF4-FFF2-40B4-BE49-F238E27FC236}">
                <a16:creationId xmlns:a16="http://schemas.microsoft.com/office/drawing/2014/main" id="{87FBD473-FE95-EBCE-E096-61CFBAC42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019300"/>
            <a:ext cx="8636000" cy="6477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B68E74-5056-D634-4435-E3BEDB910E9B}"/>
              </a:ext>
            </a:extLst>
          </p:cNvPr>
          <p:cNvSpPr txBox="1"/>
          <p:nvPr/>
        </p:nvSpPr>
        <p:spPr>
          <a:xfrm>
            <a:off x="990600" y="918210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nva Sans" panose="020B0604020202020204" charset="0"/>
              </a:rPr>
              <a:t>Motor bracket drawing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2391D-51CF-5AFA-79C6-2B44ADB70EA2}"/>
              </a:ext>
            </a:extLst>
          </p:cNvPr>
          <p:cNvSpPr txBox="1"/>
          <p:nvPr/>
        </p:nvSpPr>
        <p:spPr>
          <a:xfrm>
            <a:off x="9723120" y="9182099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nva Sans" panose="020B0604020202020204" charset="0"/>
              </a:rPr>
              <a:t>Crafted Motor bracket </a:t>
            </a:r>
          </a:p>
        </p:txBody>
      </p:sp>
    </p:spTree>
    <p:extLst>
      <p:ext uri="{BB962C8B-B14F-4D97-AF65-F5344CB8AC3E}">
        <p14:creationId xmlns:p14="http://schemas.microsoft.com/office/powerpoint/2010/main" val="264483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object on a black background&#10;&#10;AI-generated content may be incorrect.">
            <a:extLst>
              <a:ext uri="{FF2B5EF4-FFF2-40B4-BE49-F238E27FC236}">
                <a16:creationId xmlns:a16="http://schemas.microsoft.com/office/drawing/2014/main" id="{543A1E0E-B8CE-E19F-ED08-7F27F8EF1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0" t="26434" r="15000" b="15271"/>
          <a:stretch/>
        </p:blipFill>
        <p:spPr>
          <a:xfrm>
            <a:off x="1214120" y="5524500"/>
            <a:ext cx="6096000" cy="3581400"/>
          </a:xfrm>
          <a:prstGeom prst="rect">
            <a:avLst/>
          </a:prstGeom>
        </p:spPr>
      </p:pic>
      <p:pic>
        <p:nvPicPr>
          <p:cNvPr id="5" name="Picture 4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8B44A877-B000-9602-DFCE-BC48899F7C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20" y="533400"/>
            <a:ext cx="6040120" cy="45300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322331-F7D3-B682-129D-5621EC44DA74}"/>
              </a:ext>
            </a:extLst>
          </p:cNvPr>
          <p:cNvSpPr txBox="1"/>
          <p:nvPr/>
        </p:nvSpPr>
        <p:spPr>
          <a:xfrm>
            <a:off x="1386840" y="9243744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nva Sans" panose="020B0604020202020204" charset="0"/>
              </a:rPr>
              <a:t>Motor Sharf 3D drawing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7A2636-EB44-444F-E166-38FF78055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533400"/>
            <a:ext cx="10695215" cy="388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DEC98D-10BF-9305-DF59-219B7E4B7BBD}"/>
              </a:ext>
            </a:extLst>
          </p:cNvPr>
          <p:cNvSpPr txBox="1"/>
          <p:nvPr/>
        </p:nvSpPr>
        <p:spPr>
          <a:xfrm>
            <a:off x="9881507" y="4740324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nva Sans" panose="020B0604020202020204" charset="0"/>
              </a:rPr>
              <a:t>Motor Sharf 2D drawing</a:t>
            </a:r>
          </a:p>
        </p:txBody>
      </p:sp>
    </p:spTree>
    <p:extLst>
      <p:ext uri="{BB962C8B-B14F-4D97-AF65-F5344CB8AC3E}">
        <p14:creationId xmlns:p14="http://schemas.microsoft.com/office/powerpoint/2010/main" val="2423695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400" y="933450"/>
            <a:ext cx="16154400" cy="880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Color Detection and Wall Coverage Verification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3725" y="3435167"/>
            <a:ext cx="11319751" cy="2661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5303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integrated two TCS230 color sensors to detect whether the wall surface has been painted.</a:t>
            </a:r>
          </a:p>
          <a:p>
            <a:pPr marL="734059" lvl="1" indent="-367030" algn="l">
              <a:lnSpc>
                <a:spcPts val="5303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successfully calibrated the two TCS230 color sensors using black and white papers.</a:t>
            </a:r>
          </a:p>
        </p:txBody>
      </p:sp>
      <p:pic>
        <p:nvPicPr>
          <p:cNvPr id="4" name="colour">
            <a:hlinkClick r:id="" action="ppaction://media"/>
            <a:extLst>
              <a:ext uri="{FF2B5EF4-FFF2-40B4-BE49-F238E27FC236}">
                <a16:creationId xmlns:a16="http://schemas.microsoft.com/office/drawing/2014/main" id="{4E679807-C1CE-CF86-3DDB-AED3FE951AC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0.721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44400" y="2095500"/>
            <a:ext cx="4529849" cy="80019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4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33450"/>
            <a:ext cx="84201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Paint Level Monitoring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6621" y="2302919"/>
            <a:ext cx="1763137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load cell combined with an HX711 amplifier is used to measure the weight of the paint bucket continuously</a:t>
            </a:r>
          </a:p>
        </p:txBody>
      </p:sp>
      <p:pic>
        <p:nvPicPr>
          <p:cNvPr id="4" name="load cell">
            <a:hlinkClick r:id="" action="ppaction://media"/>
            <a:extLst>
              <a:ext uri="{FF2B5EF4-FFF2-40B4-BE49-F238E27FC236}">
                <a16:creationId xmlns:a16="http://schemas.microsoft.com/office/drawing/2014/main" id="{63AA49BE-0B3B-90FC-9637-6C11E76F47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91000" y="3633098"/>
            <a:ext cx="11201400" cy="6341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8A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0958" y="933450"/>
            <a:ext cx="11493441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4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Progress and Next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7834" y="2220222"/>
            <a:ext cx="16230438" cy="780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6416" lvl="1" indent="-393208" algn="just">
              <a:lnSpc>
                <a:spcPts val="5099"/>
              </a:lnSpc>
              <a:buFont typeface="Arial"/>
              <a:buChar char="•"/>
            </a:pPr>
            <a:r>
              <a:rPr lang="en-US" sz="364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currently developing the basic structure, mobility system, wall distance sensing, color detection, and paint level monitoring setups.</a:t>
            </a:r>
          </a:p>
          <a:p>
            <a:pPr marL="786416" lvl="1" indent="-393208" algn="just">
              <a:lnSpc>
                <a:spcPts val="5099"/>
              </a:lnSpc>
              <a:buFont typeface="Arial"/>
              <a:buChar char="•"/>
            </a:pPr>
            <a:r>
              <a:rPr lang="en-US" sz="364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still have to develop the paint pumping mechanism, set up the nozzle, and test all individual components.</a:t>
            </a:r>
          </a:p>
          <a:p>
            <a:pPr marL="786416" lvl="1" indent="-393208" algn="just">
              <a:lnSpc>
                <a:spcPts val="5099"/>
              </a:lnSpc>
              <a:buFont typeface="Arial"/>
              <a:buChar char="•"/>
            </a:pPr>
            <a:r>
              <a:rPr lang="en-US" sz="364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component will be programmed and tested individually to ensure correct operation.</a:t>
            </a:r>
          </a:p>
          <a:p>
            <a:pPr marL="786416" lvl="1" indent="-393208" algn="just">
              <a:lnSpc>
                <a:spcPts val="5099"/>
              </a:lnSpc>
              <a:buFont typeface="Arial"/>
              <a:buChar char="•"/>
            </a:pPr>
            <a:r>
              <a:rPr lang="en-US" sz="364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individual testing, we will combine all components and program the complete system for full automation.</a:t>
            </a:r>
          </a:p>
          <a:p>
            <a:pPr marL="786416" lvl="1" indent="-393208" algn="just">
              <a:lnSpc>
                <a:spcPts val="5099"/>
              </a:lnSpc>
              <a:buFont typeface="Arial"/>
              <a:buChar char="•"/>
            </a:pPr>
            <a:r>
              <a:rPr lang="en-US" sz="364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Final stages will include full robot testing, fine-tuning, and performance improvements</a:t>
            </a:r>
          </a:p>
          <a:p>
            <a:pPr algn="l">
              <a:lnSpc>
                <a:spcPts val="5099"/>
              </a:lnSpc>
            </a:pPr>
            <a:endParaRPr lang="en-US" sz="3642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2017" y="3400568"/>
            <a:ext cx="11923966" cy="288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652409" y="6483944"/>
            <a:ext cx="6983181" cy="669188"/>
            <a:chOff x="0" y="0"/>
            <a:chExt cx="1839192" cy="1762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39192" cy="176247"/>
            </a:xfrm>
            <a:custGeom>
              <a:avLst/>
              <a:gdLst/>
              <a:ahLst/>
              <a:cxnLst/>
              <a:rect l="l" t="t" r="r" b="b"/>
              <a:pathLst>
                <a:path w="1839192" h="176247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16295" y="6596419"/>
            <a:ext cx="6617965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GROUP G1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596</Words>
  <Application>Microsoft Office PowerPoint</Application>
  <PresentationFormat>Custom</PresentationFormat>
  <Paragraphs>47</Paragraphs>
  <Slides>13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Calibri</vt:lpstr>
      <vt:lpstr>Poppins</vt:lpstr>
      <vt:lpstr>DM Sans</vt:lpstr>
      <vt:lpstr>Poppins Semi-Bold</vt:lpstr>
      <vt:lpstr>Canva Sans</vt:lpstr>
      <vt:lpstr>Canva Sans Bold</vt:lpstr>
      <vt:lpstr>Open Sans</vt:lpstr>
      <vt:lpstr>Open Sans Light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Project Presentation</dc:title>
  <cp:lastModifiedBy>Anuk Abeysinghe</cp:lastModifiedBy>
  <cp:revision>6</cp:revision>
  <dcterms:created xsi:type="dcterms:W3CDTF">2006-08-16T00:00:00Z</dcterms:created>
  <dcterms:modified xsi:type="dcterms:W3CDTF">2025-04-28T13:40:17Z</dcterms:modified>
  <dc:identifier>DAGl5XtKxko</dc:identifier>
</cp:coreProperties>
</file>